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20116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Sistema Institucional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0C8FF"/>
                </a:solidFill>
              </a:rPr>
              <a:t>Talent 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99AA"/>
                </a:solidFill>
              </a:rPr>
              <a:t>Digitalización del modelo ACE · Mérida, Yucatán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4572000" cy="2743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114800"/>
            <a:ext cx="2103120" cy="347472"/>
          </a:xfrm>
          <a:prstGeom prst="rect">
            <a:avLst/>
          </a:prstGeom>
          <a:solidFill>
            <a:srgbClr val="2A2A3A"/>
          </a:solidFill>
          <a:ln w="635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1422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CCFF"/>
                </a:solidFill>
              </a:rPr>
              <a:t>ASP.NET Core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4114800"/>
            <a:ext cx="2103120" cy="347472"/>
          </a:xfrm>
          <a:prstGeom prst="rect">
            <a:avLst/>
          </a:prstGeom>
          <a:solidFill>
            <a:srgbClr val="2A2A3A"/>
          </a:solidFill>
          <a:ln w="635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41422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CCFF"/>
                </a:solidFill>
              </a:rPr>
              <a:t>Angular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4114800"/>
            <a:ext cx="2103120" cy="347472"/>
          </a:xfrm>
          <a:prstGeom prst="rect">
            <a:avLst/>
          </a:prstGeom>
          <a:solidFill>
            <a:srgbClr val="2A2A3A"/>
          </a:solidFill>
          <a:ln w="635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41422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CCFF"/>
                </a:solidFill>
              </a:rPr>
              <a:t>Azure 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114800"/>
            <a:ext cx="2103120" cy="347472"/>
          </a:xfrm>
          <a:prstGeom prst="rect">
            <a:avLst/>
          </a:prstGeom>
          <a:solidFill>
            <a:srgbClr val="2A2A3A"/>
          </a:solidFill>
          <a:ln w="635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41422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CCFF"/>
                </a:solidFill>
              </a:rPr>
              <a:t>Clean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77"/>
                </a:solidFill>
              </a:rPr>
              <a:t>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¿Qué es Talent Institute?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</a:rPr>
              <a:t>El Colegio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D1F"/>
                </a:solidFill>
              </a:rPr>
              <a:t>Instituto Cristiano en Los Héroes</a:t>
            </a:r>
          </a:p>
          <a:p>
            <a:pPr algn="l"/>
            <a:r>
              <a:rPr sz="1400" b="0">
                <a:solidFill>
                  <a:srgbClr val="6E6E73"/>
                </a:solidFill>
              </a:rPr>
              <a:t>Calle 83 No. 492 · Mérida, Yucatán</a:t>
            </a:r>
          </a:p>
          <a:p>
            <a:pPr algn="l"/>
            <a:r>
              <a:rPr sz="1400" b="0">
                <a:solidFill>
                  <a:srgbClr val="6E6E73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1D1D1F"/>
                </a:solidFill>
              </a:rPr>
              <a:t>Primaria · Secundaria · Preparatoria</a:t>
            </a:r>
          </a:p>
          <a:p>
            <a:pPr algn="l"/>
            <a:r>
              <a:rPr sz="1400" b="0">
                <a:solidFill>
                  <a:srgbClr val="6E6E73"/>
                </a:solidFill>
              </a:rPr>
              <a:t>Menos de 150 alumnos activos</a:t>
            </a:r>
          </a:p>
          <a:p>
            <a:pPr algn="l"/>
            <a:r>
              <a:rPr sz="1400" b="0">
                <a:solidFill>
                  <a:srgbClr val="6E6E73"/>
                </a:solidFill>
              </a:rPr>
              <a:t>Personal: Principal, Supervisoras, Monitoras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9496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</a:rPr>
              <a:t>Sistema 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📘  PACEs — módulos de autoaprendizaje por materia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7063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🎯  Metas diarias fijadas por el alumno cada mañana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8386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📊  Score Station — auto-evaluación supervisada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19709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⭐  Méritos y deméritos → privilegios activos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91032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🚀  Progresión individual, sin avance grupal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El reto operativo actual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" cy="21945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</a:rPr>
              <a:t>Sin visibilidad en tiempo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</a:rPr>
              <a:t>La Supervisora no sabe qué alumnos están estancados hasta revisar manualmente cada escritorio.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64008" cy="21945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</a:rPr>
              <a:t>Metas y scoring en papel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</a:rPr>
              <a:t>Los registros diarios se llevan en hojas físicas, propensos a errores, pérdidas y difícil análisis histórico.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64008" cy="21945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</a:rPr>
              <a:t>Méritos sin trazabilidad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262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</a:rPr>
              <a:t>No existe un historial auditado de quién otorgó cada mérito o demérito ni cuándo.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84048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64008" cy="21945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</a:rPr>
              <a:t>Privilegios sin automatización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5262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</a:rPr>
              <a:t>El cálculo de qué privilegios tiene cada alumno se hace a juicio, no con reglas claras y consistentes.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999AA"/>
                </a:solidFill>
              </a:rPr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Una aplicación web institucional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9FF"/>
                </a:solidFill>
              </a:rPr>
              <a:t>Tablet-first · 3 roles · Tiempo real · TDD · Azure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2743200" cy="347472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D1D1F"/>
                </a:solidFill>
              </a:rPr>
              <a:t>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Visibilidad
completa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Dashboard en tiempo real con alertas automáticas de alumnos estancados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651760"/>
            <a:ext cx="2743200" cy="347472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D1D1F"/>
                </a:solidFill>
              </a:rPr>
              <a:t>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91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Méritos
auditados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8862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Bitácora trazable con cálculo automático de privilegios por reglas configurables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651760"/>
            <a:ext cx="2743200" cy="347472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D1D1F"/>
                </a:solidFill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91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Progreso
digitalizado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862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PACEs, metas diarias y Score Station registrados y consultables desde cualquier tablet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651760"/>
            <a:ext cx="2743200" cy="347472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D1D1F"/>
                </a:solidFill>
              </a:rPr>
              <a:t>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291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Roles y
seguridad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8862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JWT stateless con tres roles: Principal, Supervisora y Monitora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Tres roles, una herramienta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00" cy="548640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5CE6"/>
                </a:solidFill>
              </a:rPr>
              <a:t>👤 Administrador 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54864" cy="347472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Gestión de usuarios de staff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36391"/>
            <a:ext cx="54864" cy="347472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906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Configuración de umbrales de privilegios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9624"/>
            <a:ext cx="54864" cy="347472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0390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Acceso al Dashboard General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62856"/>
            <a:ext cx="54864" cy="347472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171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Alta de PACEs en el catálogo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280160"/>
            <a:ext cx="36576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280160"/>
            <a:ext cx="3657600" cy="5486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Supervisora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E3"/>
                </a:solidFill>
              </a:rPr>
              <a:t>📚 Autoridad académica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423160"/>
            <a:ext cx="54864" cy="34747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Asignación de PACEs a alumnos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136391"/>
            <a:ext cx="54864" cy="34747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0906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Validación de metas y Score Station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849624"/>
            <a:ext cx="54864" cy="34747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80390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Otorgar / revocar méritos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562856"/>
            <a:ext cx="54864" cy="34747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45171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Supervisión del dashboard y alertas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280160"/>
            <a:ext cx="36576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1280160"/>
            <a:ext cx="3657600" cy="5486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19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Monitora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C759"/>
                </a:solidFill>
              </a:rPr>
              <a:t>✅ Operación diaria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19" y="2423160"/>
            <a:ext cx="54864" cy="347472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Registro de metas completadas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19" y="3136391"/>
            <a:ext cx="54864" cy="347472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30906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Calificación operativa (scoring)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19" y="3849624"/>
            <a:ext cx="54864" cy="347472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380390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Otorgar méritos y deméritos rápidos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19" y="4562856"/>
            <a:ext cx="54864" cy="347472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45171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Consulta de perfil del alumno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Módulos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560320" cy="6400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D1D1F"/>
                </a:solidFill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1D1F"/>
                </a:solidFill>
              </a:rPr>
              <a:t>Autenticación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E73"/>
                </a:solidFill>
              </a:rPr>
              <a:t>JWT · 3 roles · Claims-based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560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560320" cy="640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D1D1F"/>
                </a:solidFill>
              </a:rPr>
              <a:t>👩‍🎓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057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1D1F"/>
                </a:solidFill>
              </a:rPr>
              <a:t>Alumnos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E73"/>
                </a:solidFill>
              </a:rPr>
              <a:t>Alta, perfil, privilegios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560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2560320" cy="640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D1D1F"/>
                </a:solidFill>
              </a:rPr>
              <a:t>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57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1D1F"/>
                </a:solidFill>
              </a:rPr>
              <a:t>PACEs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E73"/>
                </a:solidFill>
              </a:rPr>
              <a:t>Catálogo, asignación, ciclo de vida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371600"/>
            <a:ext cx="2560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371600"/>
            <a:ext cx="2560320" cy="64008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D1D1F"/>
                </a:solidFill>
              </a:rP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057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1D1F"/>
                </a:solidFill>
              </a:rPr>
              <a:t>Metas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E73"/>
                </a:solidFill>
              </a:rPr>
              <a:t>Registro diario por turno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77639"/>
            <a:ext cx="2560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977639"/>
            <a:ext cx="2560320" cy="6400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D1D1F"/>
                </a:solidFill>
              </a:rPr>
              <a:t>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63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1D1F"/>
                </a:solidFill>
              </a:rPr>
              <a:t>Méritos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74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E73"/>
                </a:solidFill>
              </a:rPr>
              <a:t>Bitácora auditable, revocación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977639"/>
            <a:ext cx="2560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3977639"/>
            <a:ext cx="2560320" cy="64008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D1D1F"/>
                </a:solidFill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663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1D1F"/>
                </a:solidFill>
              </a:rPr>
              <a:t>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074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E73"/>
                </a:solidFill>
              </a:rPr>
              <a:t>Métricas, alertas, tendencias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977639"/>
            <a:ext cx="2560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977639"/>
            <a:ext cx="2560320" cy="64008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D1D1F"/>
                </a:solidFill>
              </a:rPr>
              <a:t>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663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1D1F"/>
                </a:solidFill>
              </a:rPr>
              <a:t>Staff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074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E73"/>
                </a:solidFill>
              </a:rPr>
              <a:t>Gestión de usuarios internos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Dashboard General — Vista Supervisora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71E3"/>
                </a:solidFill>
              </a:rPr>
              <a:t>Ver mock: mock/dashboard.html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468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1E3"/>
                </a:solidFill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E73"/>
                </a:solidFill>
              </a:rPr>
              <a:t>Alumnos activos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468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173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4C759"/>
                </a:solidFill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E73"/>
                </a:solidFill>
              </a:rPr>
              <a:t>Metas hoy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468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4173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9500"/>
                </a:solidFill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E73"/>
                </a:solidFill>
              </a:rPr>
              <a:t>PACEs revisión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468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4173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3B30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E73"/>
                </a:solidFill>
              </a:rPr>
              <a:t>Alertas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97480"/>
            <a:ext cx="457200" cy="685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7889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D1D1F"/>
                </a:solidFill>
              </a:rPr>
              <a:t>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6974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</a:rPr>
              <a:t>Banner de alertas automático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0449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Muestra alumnos con 2+ días sin meta registrada, calculado en tiempo real sin job periódico.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457200" cy="685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D1D1F"/>
                </a:solidFill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7033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</a:rPr>
              <a:t>Tabla de progreso semanal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050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Avance de PACEs, estado de meta del día, balance de méritos y badge de estado por alumno.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457200" cy="685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006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D1D1F"/>
                </a:solidFill>
              </a:rPr>
              <a:t>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7091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</a:rPr>
              <a:t>Gráfica semanal de metas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0566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Visualización de metas completadas por día en la semana actual, desglosadas por turno.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15000"/>
            <a:ext cx="457200" cy="685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8064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D1D1F"/>
                </a:solidFill>
              </a:rPr>
              <a:t>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7150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</a:rPr>
              <a:t>Score Station pendiente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62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Panel lateral con PACEs listos para Auto-Test ordenados por porcentaje de avance.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Perfil del Alumno — Vista Monitora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71E3"/>
                </a:solidFill>
              </a:rPr>
              <a:t>Ver mock: mock/student.html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" cy="6858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</a:rPr>
              <a:t>Hero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Nombre, grado, fecha de ingreso y chips de privilegios activos/inactivos con colores semánticos.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64008" cy="6858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</a:rPr>
              <a:t>PACEs activos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70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Tarjetas por materia con barra de progreso, estado canónico (EnProgreso, Listo para Auto-Test) y acciones contextuales.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64008" cy="6858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74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</a:rPr>
              <a:t>Checklist de metas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22191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Metas del día separadas por turno Mañana/Tarde. Toggle de estado inline. Muestra Aprobada, Scored, Pendiente.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79"/>
            <a:ext cx="64008" cy="6858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2627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</a:rPr>
              <a:t>Acciones rápidas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73751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Otorgar mérito, registrar demérito, actualizar puntos. Cada acción abre un modal de confirmación antes de ejecutar.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77840"/>
            <a:ext cx="64008" cy="685800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577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</a:rPr>
              <a:t>Log de méritos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25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Últimos 10 registros con motivo, responsable y fecha. Los méritos revocados se muestran tachados con indicador visual.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Flujo de estados — Meta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Ver especificación completa: domain-rules.md §2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1920240" cy="82296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Pendiente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</a:rPr>
              <a:t>Sistema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697480"/>
            <a:ext cx="1920240" cy="8229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7614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En Progreso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429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</a:rPr>
              <a:t>Sistema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600200"/>
            <a:ext cx="1920240" cy="82296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6642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Completada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331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</a:rPr>
              <a:t>Monitora / Supervisora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794760"/>
            <a:ext cx="1920240" cy="8229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Rechazada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526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</a:rPr>
              <a:t>Monitora / Supervisora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2697480"/>
            <a:ext cx="1920240" cy="8229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27614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Scored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429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</a:rPr>
              <a:t>Supervisora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0" y="2697480"/>
            <a:ext cx="1920240" cy="82296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27614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Aprobada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3429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</a:rPr>
              <a:t>Sistema (auto)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172968"/>
            <a:ext cx="365760" cy="4572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3172968"/>
            <a:ext cx="365760" cy="4572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2075688"/>
            <a:ext cx="411480" cy="4572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0" y="4270248"/>
            <a:ext cx="411480" cy="4572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41280" y="3172968"/>
            <a:ext cx="365760" cy="4572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→ Rechazada puede volver a EnProgreso (alumno corrige)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→ Scored → Aprobada es automático si puntaje ≥ mínimo del 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Stack tecnológico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64008" cy="9144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179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Angular 18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28016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SPA tablet-first · CSS propio sin framework UI · HttpClient + interceptores JWT · Guards de 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76272"/>
            <a:ext cx="11247120" cy="91440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76272"/>
            <a:ext cx="64008" cy="914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494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1E3"/>
                </a:solidFill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968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ASP.NET Core 8 · C#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5915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Clean Architecture (Domain / Application / Infrastructure / API) · TDD &gt;90% cobertura · xUnit + Moq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55263"/>
            <a:ext cx="11247120" cy="91440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55263"/>
            <a:ext cx="64008" cy="9144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28415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</a:rPr>
              <a:t>Base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7588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SQL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438144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Code-First via EF Core · Naming canónico en español · Concurrencia optimista con RowVersion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34256"/>
            <a:ext cx="11247120" cy="91440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34256"/>
            <a:ext cx="64008" cy="914400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074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E5CE6"/>
                </a:solidFill>
              </a:rPr>
              <a:t>Infraestructura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Web App (Linux)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517136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SPA + API como una unidad · Bicep (IaC) · Key Vault · Application Insights · Auto-scaling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13248"/>
            <a:ext cx="11247120" cy="91440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413248"/>
            <a:ext cx="64008" cy="91440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864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6E73"/>
                </a:solidFill>
              </a:rPr>
              <a:t>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33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GitHub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596128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ng build → dotnet build → test gate → migraciones EF → despliegue zero-downtime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Arquitectura — Clean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15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10515600" cy="64008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5CE6"/>
                </a:solidFill>
              </a:rPr>
              <a:t>API (Presentation)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0428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Controllers · Swagger · JWT middleware · Exception handler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3108960"/>
            <a:ext cx="8686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37360" y="3108960"/>
            <a:ext cx="8686800" cy="6400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</a:rPr>
              <a:t>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EF Core repositories · Azure SQL · Key Vault adapter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4480560"/>
            <a:ext cx="68580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4480560"/>
            <a:ext cx="6858000" cy="640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E3"/>
                </a:solidFill>
              </a:rPr>
              <a:t>Application (Use Cases)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04748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Orquestación · IRepository interfaces · IUnitOfWork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5852160"/>
            <a:ext cx="5029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5852160"/>
            <a:ext cx="5029200" cy="64008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C759"/>
                </a:solidFill>
              </a:rPr>
              <a:t>Domain (Core)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641908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</a:rPr>
              <a:t>Alumno · Pace · AlumnoPace · Meta · Merito · Reglas puras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</a:rPr>
              <a:t>⚠  Dependencias solo apuntan hacia adentro: API → App → Domain. Infrastructure → App. Domain no depende de nadie.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Fases de desarrollo · ~13–15 semanas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743200" cy="5486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Cimiento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2468880" cy="347472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⏱  2–3 sem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2487168"/>
            <a:ext cx="45720" cy="34747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414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Repositorio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3236976"/>
            <a:ext cx="45720" cy="34747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9125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.NET 8 Clean 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3986784"/>
            <a:ext cx="45720" cy="34747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41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Bicep + GitHub 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4736592"/>
            <a:ext cx="45720" cy="34747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908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Auth JWT con 3 roles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486400"/>
            <a:ext cx="45720" cy="34747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4406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Staging operativo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1280160"/>
            <a:ext cx="27432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1280160"/>
            <a:ext cx="2743200" cy="5486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1353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15544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1965960"/>
            <a:ext cx="2468880" cy="347472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C759"/>
                </a:solidFill>
              </a:rPr>
              <a:t>⏱  3–4 sem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56432" y="2487168"/>
            <a:ext cx="45720" cy="347472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24414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Entidades TDD (Alumno, Pace, AlumnoPace, Meta)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56432" y="3236976"/>
            <a:ext cx="45720" cy="347472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319125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EF Core + migraciones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6432" y="3986784"/>
            <a:ext cx="45720" cy="347472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3941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Endpoints Alumnos, Paces, Progreso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280160"/>
            <a:ext cx="27432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1280160"/>
            <a:ext cx="2743200" cy="54864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1353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Fase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15544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Operación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1965960"/>
            <a:ext cx="2468880" cy="347472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</a:rPr>
              <a:t>⏱  4–5 sem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2487168"/>
            <a:ext cx="45720" cy="34747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24414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Méritos + privilegios configurables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2512" y="3236976"/>
            <a:ext cx="45720" cy="34747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319125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Angular 18 SPA (Dashboard + Perfil)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82512" y="3986784"/>
            <a:ext cx="45720" cy="34747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3941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Integración frontend–API completa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1280160"/>
            <a:ext cx="27432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1280160"/>
            <a:ext cx="2743200" cy="548640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1160" y="1353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Fase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15544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Cierre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81160" y="1965960"/>
            <a:ext cx="2468880" cy="347472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7260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5CE6"/>
                </a:solidFill>
              </a:rPr>
              <a:t>⏱  2–3 sem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08592" y="2487168"/>
            <a:ext cx="45720" cy="347472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64040" y="24414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Playwright E2E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8592" y="3236976"/>
            <a:ext cx="45720" cy="347472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64040" y="319125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Refinamiento UX (Nielsen)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08592" y="3986784"/>
            <a:ext cx="45720" cy="347472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64040" y="3941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Despliegue producción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08592" y="4736592"/>
            <a:ext cx="45720" cy="347472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64040" y="46908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Documentación de usuario por rol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</a:rPr>
              <a:t>💡 Núcleo no negociable: TDD · Clean Arch · JWT · CI/CD básico · tablet-first   |   Diferibles: Playwright, App Insights, auto-scaling, Bicep completo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¿Preguntas?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999AA"/>
                </a:solidFill>
              </a:rPr>
              <a:t>El spec kit completo está en /spec-kit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2651760" cy="45720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FF"/>
                </a:solidFill>
              </a:rPr>
              <a:t>📄  constitution.md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834640"/>
            <a:ext cx="2651760" cy="45720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29260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FF"/>
                </a:solidFill>
              </a:rPr>
              <a:t>📄  domain-rules.md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834640"/>
            <a:ext cx="2651760" cy="45720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9260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FF"/>
                </a:solidFill>
              </a:rPr>
              <a:t>📄  backend-api.md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834640"/>
            <a:ext cx="2651760" cy="45720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29260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FF"/>
                </a:solidFill>
              </a:rPr>
              <a:t>📄  frontend-ui.md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2651760" cy="45720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FF"/>
                </a:solidFill>
              </a:rPr>
              <a:t>📄  infrastructure.md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474720"/>
            <a:ext cx="2651760" cy="45720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35661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FF"/>
                </a:solidFill>
              </a:rPr>
              <a:t>📄  phases.md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474720"/>
            <a:ext cx="2651760" cy="45720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5661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FF"/>
                </a:solidFill>
              </a:rPr>
              <a:t>📄  tasks.md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3474720"/>
            <a:ext cx="2651760" cy="457200"/>
          </a:xfrm>
          <a:prstGeom prst="rect">
            <a:avLst/>
          </a:prstGeom>
          <a:solidFill>
            <a:srgbClr val="2A2A3A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35661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FF"/>
                </a:solidFill>
              </a:rPr>
              <a:t>📄  SOW.md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Talent Institute · Sistema Institucional · Abril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